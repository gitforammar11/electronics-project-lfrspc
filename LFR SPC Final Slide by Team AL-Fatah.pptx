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8288000" cy="10287000"/>
  <p:notesSz cx="6858000" cy="9144000"/>
  <p:embeddedFontLst>
    <p:embeddedFont>
      <p:font typeface="Algerian" panose="04020705040A02060702" pitchFamily="82" charset="0"/>
      <p:regular r:id="rId15"/>
    </p:embeddedFont>
    <p:embeddedFont>
      <p:font typeface="Etna Sans Serif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22053"/>
            <a:ext cx="11415841" cy="6330290"/>
            <a:chOff x="0" y="0"/>
            <a:chExt cx="15221122" cy="8440386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5221122" cy="730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dirty="0">
                  <a:solidFill>
                    <a:srgbClr val="C00000"/>
                  </a:solidFill>
                  <a:latin typeface="Algerian" panose="04020705040A02060702" pitchFamily="82" charset="0"/>
                  <a:ea typeface="Etna Sans Serif"/>
                  <a:cs typeface="Etna Sans Serif"/>
                  <a:sym typeface="Etna Sans Serif"/>
                </a:rPr>
                <a:t>Line Follower Solar Panel Cleaner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44731"/>
              <a:ext cx="15221122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33767" y="1057677"/>
            <a:ext cx="5873233" cy="500022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103808" y="5805714"/>
            <a:ext cx="4970154" cy="43041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751070" y="8553426"/>
            <a:ext cx="1773087" cy="153550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444541" y="341319"/>
            <a:ext cx="3799619" cy="3290488"/>
            <a:chOff x="0" y="0"/>
            <a:chExt cx="3619627" cy="31346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28700" y="708831"/>
            <a:ext cx="8115302" cy="1129211"/>
            <a:chOff x="0" y="0"/>
            <a:chExt cx="10820402" cy="1505614"/>
          </a:xfrm>
        </p:grpSpPr>
        <p:sp>
          <p:nvSpPr>
            <p:cNvPr id="14" name="TextBox 14"/>
            <p:cNvSpPr txBox="1"/>
            <p:nvPr/>
          </p:nvSpPr>
          <p:spPr>
            <a:xfrm>
              <a:off x="2492579" y="207153"/>
              <a:ext cx="8327823" cy="1049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72"/>
                </a:lnSpc>
                <a:spcBef>
                  <a:spcPct val="0"/>
                </a:spcBef>
              </a:pPr>
              <a:r>
                <a:rPr lang="en-US" sz="5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Etna Sans Serif"/>
                  <a:cs typeface="Times New Roman" panose="02020603050405020304" pitchFamily="18" charset="0"/>
                  <a:sym typeface="Etna Sans Serif"/>
                </a:rPr>
                <a:t>Team AL-FATAH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743343" cy="1505614"/>
            </a:xfrm>
            <a:custGeom>
              <a:avLst/>
              <a:gdLst/>
              <a:ahLst/>
              <a:cxnLst/>
              <a:rect l="l" t="t" r="r" b="b"/>
              <a:pathLst>
                <a:path w="1743343" h="1505614">
                  <a:moveTo>
                    <a:pt x="0" y="0"/>
                  </a:moveTo>
                  <a:lnTo>
                    <a:pt x="1743343" y="0"/>
                  </a:lnTo>
                  <a:lnTo>
                    <a:pt x="1743343" y="1505614"/>
                  </a:lnTo>
                  <a:lnTo>
                    <a:pt x="0" y="1505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546597" y="2933700"/>
            <a:ext cx="7675120" cy="6876252"/>
            <a:chOff x="0" y="0"/>
            <a:chExt cx="4282440" cy="28938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82440" cy="2893858"/>
            </a:xfrm>
            <a:custGeom>
              <a:avLst/>
              <a:gdLst/>
              <a:ahLst/>
              <a:cxnLst/>
              <a:rect l="l" t="t" r="r" b="b"/>
              <a:pathLst>
                <a:path w="4282440" h="2893858">
                  <a:moveTo>
                    <a:pt x="3211830" y="0"/>
                  </a:moveTo>
                  <a:lnTo>
                    <a:pt x="1070610" y="0"/>
                  </a:lnTo>
                  <a:lnTo>
                    <a:pt x="0" y="1446929"/>
                  </a:lnTo>
                  <a:lnTo>
                    <a:pt x="1070610" y="2893858"/>
                  </a:lnTo>
                  <a:lnTo>
                    <a:pt x="3211830" y="2893858"/>
                  </a:lnTo>
                  <a:lnTo>
                    <a:pt x="4282440" y="1446929"/>
                  </a:lnTo>
                  <a:close/>
                </a:path>
              </a:pathLst>
            </a:custGeom>
            <a:blipFill>
              <a:blip r:embed="rId4"/>
              <a:stretch>
                <a:fillRect t="-13363" b="-1336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68572" y="8362980"/>
            <a:ext cx="15038228" cy="57119"/>
          </a:xfrm>
          <a:prstGeom prst="line">
            <a:avLst/>
          </a:prstGeom>
          <a:ln w="19050" cap="rnd">
            <a:solidFill>
              <a:srgbClr val="00465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97476"/>
            <a:ext cx="3364925" cy="1832080"/>
            <a:chOff x="0" y="0"/>
            <a:chExt cx="4486566" cy="2442774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4486566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A181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011221073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55299"/>
              <a:ext cx="4486566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Md Shazzad Hossain Jiku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66421" y="5797476"/>
            <a:ext cx="3364925" cy="1298904"/>
            <a:chOff x="0" y="0"/>
            <a:chExt cx="4486566" cy="1731871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4486566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A181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011221117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55596"/>
              <a:ext cx="4486566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Ananna Saha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19157" y="5797252"/>
            <a:ext cx="3364925" cy="1832304"/>
            <a:chOff x="0" y="0"/>
            <a:chExt cx="4486566" cy="244307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4486566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A181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011221126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55596"/>
              <a:ext cx="4486566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Shraboni Akter Mim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07545" y="5797252"/>
            <a:ext cx="3364925" cy="1832304"/>
            <a:chOff x="0" y="0"/>
            <a:chExt cx="4486566" cy="244307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4486566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A181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011221601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55596"/>
              <a:ext cx="4486566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Md. Ammar Hossain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74708" y="3977247"/>
            <a:ext cx="811530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8499" spc="-84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Team Members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31805" y="8198352"/>
            <a:ext cx="380203" cy="329258"/>
            <a:chOff x="0" y="0"/>
            <a:chExt cx="3619627" cy="31346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476319" y="8217402"/>
            <a:ext cx="380203" cy="329258"/>
            <a:chOff x="0" y="0"/>
            <a:chExt cx="3619627" cy="31346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917443" y="8217402"/>
            <a:ext cx="380203" cy="329258"/>
            <a:chOff x="0" y="0"/>
            <a:chExt cx="3619627" cy="31346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029055" y="8232255"/>
            <a:ext cx="380203" cy="329258"/>
            <a:chOff x="0" y="0"/>
            <a:chExt cx="3619627" cy="31346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087600" y="3200363"/>
            <a:ext cx="2977778" cy="2578770"/>
            <a:chOff x="-900084" y="-1013578"/>
            <a:chExt cx="3619627" cy="3134614"/>
          </a:xfrm>
        </p:grpSpPr>
        <p:sp>
          <p:nvSpPr>
            <p:cNvPr id="25" name="Freeform 25"/>
            <p:cNvSpPr/>
            <p:nvPr/>
          </p:nvSpPr>
          <p:spPr>
            <a:xfrm>
              <a:off x="-900084" y="-1013578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1559332" y="891070"/>
            <a:ext cx="4201515" cy="3638531"/>
            <a:chOff x="0" y="0"/>
            <a:chExt cx="3619627" cy="31346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580054" y="301352"/>
            <a:ext cx="2481390" cy="2148895"/>
            <a:chOff x="0" y="0"/>
            <a:chExt cx="3619627" cy="313461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660090" y="5797252"/>
            <a:ext cx="3364925" cy="1832304"/>
            <a:chOff x="0" y="0"/>
            <a:chExt cx="4486566" cy="2443071"/>
          </a:xfrm>
        </p:grpSpPr>
        <p:sp>
          <p:nvSpPr>
            <p:cNvPr id="31" name="TextBox 31"/>
            <p:cNvSpPr txBox="1"/>
            <p:nvPr/>
          </p:nvSpPr>
          <p:spPr>
            <a:xfrm>
              <a:off x="0" y="0"/>
              <a:ext cx="4486566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A181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011221136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1055596"/>
              <a:ext cx="4486566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Mohammad Sameer Ahmed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74708" y="473515"/>
            <a:ext cx="811530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8499" spc="-8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Instructor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4708" y="1624572"/>
            <a:ext cx="11226911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spc="-44" dirty="0" err="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AbHn</a:t>
            </a:r>
            <a:r>
              <a:rPr lang="en-US" sz="4400" spc="-4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Md. Abid Hossain</a:t>
            </a:r>
          </a:p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spc="-4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United International University</a:t>
            </a:r>
          </a:p>
        </p:txBody>
      </p:sp>
      <p:grpSp>
        <p:nvGrpSpPr>
          <p:cNvPr id="35" name="Group 22">
            <a:extLst>
              <a:ext uri="{FF2B5EF4-FFF2-40B4-BE49-F238E27FC236}">
                <a16:creationId xmlns:a16="http://schemas.microsoft.com/office/drawing/2014/main" id="{7F50E556-AADE-0559-8870-FF76F10764AE}"/>
              </a:ext>
            </a:extLst>
          </p:cNvPr>
          <p:cNvGrpSpPr/>
          <p:nvPr/>
        </p:nvGrpSpPr>
        <p:grpSpPr>
          <a:xfrm>
            <a:off x="13470179" y="8198352"/>
            <a:ext cx="380203" cy="329258"/>
            <a:chOff x="0" y="0"/>
            <a:chExt cx="3619627" cy="3134614"/>
          </a:xfrm>
        </p:grpSpPr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B784FD55-31E9-9D30-C138-BDD0F0CDBB6B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78424" y="4381500"/>
            <a:ext cx="4115568" cy="5660962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859850" y="563974"/>
            <a:ext cx="4961246" cy="4296462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23319" y="2472701"/>
            <a:ext cx="9990243" cy="5271354"/>
            <a:chOff x="0" y="0"/>
            <a:chExt cx="13320324" cy="7028471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13320324" cy="3383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64"/>
                </a:lnSpc>
                <a:spcBef>
                  <a:spcPct val="0"/>
                </a:spcBef>
              </a:pPr>
              <a:r>
                <a:rPr lang="en-US" sz="8387" spc="-83" dirty="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Introduction to</a:t>
              </a:r>
            </a:p>
            <a:p>
              <a:pPr algn="l">
                <a:lnSpc>
                  <a:spcPts val="10064"/>
                </a:lnSpc>
                <a:spcBef>
                  <a:spcPct val="0"/>
                </a:spcBef>
              </a:pPr>
              <a:r>
                <a:rPr lang="en-US" sz="8387" spc="-83" dirty="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SPC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605568"/>
              <a:ext cx="11933322" cy="3422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2608" lvl="1" indent="-266304" algn="l">
                <a:lnSpc>
                  <a:spcPts val="3453"/>
                </a:lnSpc>
                <a:buFont typeface="Arial"/>
                <a:buChar char="•"/>
              </a:pPr>
              <a:r>
                <a:rPr lang="en-US" sz="2466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The global shift towards renewable energy makes solar panels crucial. However, they accumulate dust and debris, reducing their efficiency.</a:t>
              </a:r>
            </a:p>
            <a:p>
              <a:pPr marL="532608" lvl="1" indent="-266304" algn="l">
                <a:lnSpc>
                  <a:spcPts val="3453"/>
                </a:lnSpc>
                <a:buFont typeface="Arial"/>
                <a:buChar char="•"/>
              </a:pPr>
              <a:r>
                <a:rPr lang="en-US" sz="2466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The Line Follower Solar Panel Cleaner Robot autonomously follows a path on solar panels, cleaning them efficiently and reducing the need for labor-intensive manual cleaning.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1" y="1638300"/>
            <a:ext cx="8949991" cy="7543799"/>
            <a:chOff x="0" y="0"/>
            <a:chExt cx="4282440" cy="28938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82440" cy="2893858"/>
            </a:xfrm>
            <a:custGeom>
              <a:avLst/>
              <a:gdLst/>
              <a:ahLst/>
              <a:cxnLst/>
              <a:rect l="l" t="t" r="r" b="b"/>
              <a:pathLst>
                <a:path w="4282440" h="2893858">
                  <a:moveTo>
                    <a:pt x="3211830" y="0"/>
                  </a:moveTo>
                  <a:lnTo>
                    <a:pt x="1070610" y="0"/>
                  </a:lnTo>
                  <a:lnTo>
                    <a:pt x="0" y="1446929"/>
                  </a:lnTo>
                  <a:lnTo>
                    <a:pt x="1070610" y="2893858"/>
                  </a:lnTo>
                  <a:lnTo>
                    <a:pt x="3211830" y="2893858"/>
                  </a:lnTo>
                  <a:lnTo>
                    <a:pt x="4282440" y="1446929"/>
                  </a:lnTo>
                  <a:close/>
                </a:path>
              </a:pathLst>
            </a:custGeom>
            <a:blipFill>
              <a:blip r:embed="rId2"/>
              <a:stretch>
                <a:fillRect t="-25118" b="-2511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1155"/>
            <a:ext cx="17259300" cy="6945308"/>
            <a:chOff x="0" y="0"/>
            <a:chExt cx="23012400" cy="9260411"/>
          </a:xfrm>
        </p:grpSpPr>
        <p:sp>
          <p:nvSpPr>
            <p:cNvPr id="3" name="TextBox 3"/>
            <p:cNvSpPr txBox="1"/>
            <p:nvPr/>
          </p:nvSpPr>
          <p:spPr>
            <a:xfrm>
              <a:off x="0" y="2851197"/>
              <a:ext cx="23012400" cy="6409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81"/>
                </a:lnSpc>
              </a:pPr>
              <a:r>
                <a:rPr lang="en-US" sz="3984" dirty="0">
                  <a:solidFill>
                    <a:srgbClr val="F4F4F4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The motivation behind this project is to reduce human intervention in solar panel maintenance.</a:t>
              </a:r>
            </a:p>
            <a:p>
              <a:pPr algn="l">
                <a:lnSpc>
                  <a:spcPts val="4781"/>
                </a:lnSpc>
              </a:pPr>
              <a:endParaRPr lang="en-US" sz="3984" dirty="0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  <a:p>
              <a:pPr algn="l">
                <a:lnSpc>
                  <a:spcPts val="4781"/>
                </a:lnSpc>
              </a:pPr>
              <a:r>
                <a:rPr lang="en-US" sz="3984" dirty="0">
                  <a:solidFill>
                    <a:srgbClr val="F4F4F4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Manual cleaning can be expensive and inefficient, especially in large solar farms or areas with extreme weather.</a:t>
              </a:r>
            </a:p>
            <a:p>
              <a:pPr algn="l">
                <a:lnSpc>
                  <a:spcPts val="4781"/>
                </a:lnSpc>
              </a:pPr>
              <a:endParaRPr lang="en-US" sz="3984" dirty="0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  <a:p>
              <a:pPr algn="l">
                <a:lnSpc>
                  <a:spcPts val="4781"/>
                </a:lnSpc>
                <a:spcBef>
                  <a:spcPct val="0"/>
                </a:spcBef>
              </a:pPr>
              <a:r>
                <a:rPr lang="en-US" sz="3984" dirty="0">
                  <a:solidFill>
                    <a:srgbClr val="F4F4F4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This autonomous solution ensures regular cleaning, increasing energy output while minimizing costs.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012400" cy="2342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811"/>
                </a:lnSpc>
              </a:pPr>
              <a:r>
                <a:rPr lang="en-US" sz="11509">
                  <a:solidFill>
                    <a:srgbClr val="A4E473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Motivation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18415" y="7373008"/>
            <a:ext cx="2804991" cy="2205020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162081" y="8184977"/>
            <a:ext cx="2249486" cy="1948066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612495" y="7522880"/>
            <a:ext cx="2804992" cy="2404857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1F271D2E-0610-B8A6-8652-EFA3B6F6FD6B}"/>
              </a:ext>
            </a:extLst>
          </p:cNvPr>
          <p:cNvGrpSpPr/>
          <p:nvPr/>
        </p:nvGrpSpPr>
        <p:grpSpPr>
          <a:xfrm>
            <a:off x="15063909" y="625205"/>
            <a:ext cx="2249486" cy="1948066"/>
            <a:chOff x="0" y="0"/>
            <a:chExt cx="3619627" cy="3134614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0F0D3F6-969F-5FA2-5CC1-F52240CAE4F2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50187" y="518767"/>
            <a:ext cx="10138115" cy="8779655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4" name="Group 4"/>
          <p:cNvGrpSpPr/>
          <p:nvPr/>
        </p:nvGrpSpPr>
        <p:grpSpPr>
          <a:xfrm rot="173199">
            <a:off x="330014" y="3302149"/>
            <a:ext cx="9731958" cy="6695899"/>
            <a:chOff x="0" y="0"/>
            <a:chExt cx="3651358" cy="3593950"/>
          </a:xfrm>
        </p:grpSpPr>
        <p:sp>
          <p:nvSpPr>
            <p:cNvPr id="5" name="Freeform 5"/>
            <p:cNvSpPr/>
            <p:nvPr/>
          </p:nvSpPr>
          <p:spPr>
            <a:xfrm rot="-426000">
              <a:off x="13999" y="-99049"/>
              <a:ext cx="3623359" cy="3792048"/>
            </a:xfrm>
            <a:custGeom>
              <a:avLst/>
              <a:gdLst/>
              <a:ahLst/>
              <a:cxnLst/>
              <a:rect l="l" t="t" r="r" b="b"/>
              <a:pathLst>
                <a:path w="3623359" h="3792048">
                  <a:moveTo>
                    <a:pt x="2939629" y="225657"/>
                  </a:moveTo>
                  <a:lnTo>
                    <a:pt x="1127949" y="0"/>
                  </a:lnTo>
                  <a:lnTo>
                    <a:pt x="0" y="1670367"/>
                  </a:lnTo>
                  <a:lnTo>
                    <a:pt x="683731" y="3566391"/>
                  </a:lnTo>
                  <a:lnTo>
                    <a:pt x="2495411" y="3792048"/>
                  </a:lnTo>
                  <a:lnTo>
                    <a:pt x="3623360" y="2121681"/>
                  </a:lnTo>
                  <a:close/>
                </a:path>
              </a:pathLst>
            </a:custGeom>
            <a:blipFill>
              <a:blip r:embed="rId2"/>
              <a:stretch>
                <a:fillRect l="-14326" t="-15236" r="-6129" b="-38414"/>
              </a:stretch>
            </a:blip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9233" y="1759413"/>
            <a:ext cx="5959277" cy="116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35"/>
              </a:lnSpc>
              <a:spcBef>
                <a:spcPct val="0"/>
              </a:spcBef>
            </a:pPr>
            <a:r>
              <a:rPr lang="en-US" sz="7696" spc="-76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Components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00540" y="518767"/>
            <a:ext cx="6109328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ESP 32- microcontroller to control the robot🤖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00540" y="1480648"/>
            <a:ext cx="610932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IR Sensors - for navigation 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00540" y="2194879"/>
            <a:ext cx="788276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Motor Driver ( L298N )- control motors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00540" y="2909110"/>
            <a:ext cx="747021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DC Motors- provide movement to motors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00540" y="3623341"/>
            <a:ext cx="610932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Chassis - body for the robot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00540" y="4337572"/>
            <a:ext cx="610932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Wheels - for mobility🛞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00540" y="5051803"/>
            <a:ext cx="703623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Battery ( LiPo )- power supply🔋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00540" y="5766034"/>
            <a:ext cx="770952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Jumper wires - Connects the components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00540" y="6480264"/>
            <a:ext cx="610932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Switch - Power on/off control 🖲️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00540" y="7908726"/>
            <a:ext cx="788276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Solar panel - Surface 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0540" y="7205730"/>
            <a:ext cx="7882764" cy="45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442" lvl="1" indent="-292721" algn="l">
              <a:lnSpc>
                <a:spcPts val="3796"/>
              </a:lnSpc>
              <a:buFont typeface="Arial"/>
              <a:buChar char="•"/>
            </a:pPr>
            <a:r>
              <a:rPr lang="en-US" sz="2711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Converter - Bug module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00540" y="8580556"/>
            <a:ext cx="788276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Water pump and cleaning mechanism - spray water, Foam, connector etc.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72751" y="2904639"/>
            <a:ext cx="6225758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72583" y="3685462"/>
            <a:ext cx="4691936" cy="5134004"/>
            <a:chOff x="0" y="0"/>
            <a:chExt cx="4034678" cy="41373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34678" cy="4137312"/>
            </a:xfrm>
            <a:custGeom>
              <a:avLst/>
              <a:gdLst/>
              <a:ahLst/>
              <a:cxnLst/>
              <a:rect l="l" t="t" r="r" b="b"/>
              <a:pathLst>
                <a:path w="4034678" h="4137312">
                  <a:moveTo>
                    <a:pt x="4034678" y="2068656"/>
                  </a:moveTo>
                  <a:lnTo>
                    <a:pt x="3129803" y="4137312"/>
                  </a:lnTo>
                  <a:lnTo>
                    <a:pt x="904875" y="4137312"/>
                  </a:lnTo>
                  <a:lnTo>
                    <a:pt x="0" y="2068656"/>
                  </a:lnTo>
                  <a:lnTo>
                    <a:pt x="904875" y="0"/>
                  </a:lnTo>
                  <a:lnTo>
                    <a:pt x="3129676" y="0"/>
                  </a:lnTo>
                  <a:lnTo>
                    <a:pt x="4034678" y="2068656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409951" y="2678960"/>
            <a:ext cx="12878049" cy="7608040"/>
          </a:xfrm>
          <a:custGeom>
            <a:avLst/>
            <a:gdLst/>
            <a:ahLst/>
            <a:cxnLst/>
            <a:rect l="l" t="t" r="r" b="b"/>
            <a:pathLst>
              <a:path w="12878049" h="7608040">
                <a:moveTo>
                  <a:pt x="0" y="0"/>
                </a:moveTo>
                <a:lnTo>
                  <a:pt x="12878049" y="0"/>
                </a:lnTo>
                <a:lnTo>
                  <a:pt x="12878049" y="7608040"/>
                </a:lnTo>
                <a:lnTo>
                  <a:pt x="0" y="760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02" t="-3600" b="-187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4799" y="5634387"/>
            <a:ext cx="5072936" cy="4329600"/>
            <a:chOff x="0" y="0"/>
            <a:chExt cx="3724150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24150" cy="3134614"/>
            </a:xfrm>
            <a:custGeom>
              <a:avLst/>
              <a:gdLst/>
              <a:ahLst/>
              <a:cxnLst/>
              <a:rect l="l" t="t" r="r" b="b"/>
              <a:pathLst>
                <a:path w="3724150" h="3134614">
                  <a:moveTo>
                    <a:pt x="3724150" y="1567307"/>
                  </a:moveTo>
                  <a:lnTo>
                    <a:pt x="2819275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819148" y="0"/>
                  </a:lnTo>
                  <a:lnTo>
                    <a:pt x="3724150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88244" y="449181"/>
            <a:ext cx="10102766" cy="2603196"/>
            <a:chOff x="0" y="136314"/>
            <a:chExt cx="13470355" cy="3470929"/>
          </a:xfrm>
        </p:grpSpPr>
        <p:sp>
          <p:nvSpPr>
            <p:cNvPr id="10" name="TextBox 10"/>
            <p:cNvSpPr txBox="1"/>
            <p:nvPr/>
          </p:nvSpPr>
          <p:spPr>
            <a:xfrm>
              <a:off x="150031" y="136314"/>
              <a:ext cx="13320324" cy="1580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64"/>
                </a:lnSpc>
                <a:spcBef>
                  <a:spcPct val="0"/>
                </a:spcBef>
              </a:pPr>
              <a:r>
                <a:rPr lang="en-US" sz="6600" spc="-83" dirty="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System Architecture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13752"/>
              <a:ext cx="11933322" cy="1693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2608" lvl="1" indent="-266304" algn="l">
                <a:lnSpc>
                  <a:spcPts val="3453"/>
                </a:lnSpc>
                <a:buFont typeface="Arial"/>
                <a:buChar char="•"/>
              </a:pPr>
              <a:r>
                <a:rPr lang="en-US" sz="2466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The proposed system consists of several components working together to ensure the robot autonomously follows a path and cleans the solar panels.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075447" y="4576184"/>
            <a:ext cx="4302288" cy="2632963"/>
            <a:chOff x="0" y="0"/>
            <a:chExt cx="5548115" cy="31346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48115" cy="3134614"/>
            </a:xfrm>
            <a:custGeom>
              <a:avLst/>
              <a:gdLst/>
              <a:ahLst/>
              <a:cxnLst/>
              <a:rect l="l" t="t" r="r" b="b"/>
              <a:pathLst>
                <a:path w="5548115" h="3134614">
                  <a:moveTo>
                    <a:pt x="5548115" y="1567307"/>
                  </a:moveTo>
                  <a:lnTo>
                    <a:pt x="4643240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4643113" y="0"/>
                  </a:lnTo>
                  <a:lnTo>
                    <a:pt x="5548115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372163" y="4768239"/>
            <a:ext cx="4985461" cy="4317433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4966630" y="6926955"/>
            <a:ext cx="3480308" cy="3013963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4458335" y="4034967"/>
            <a:ext cx="1798578" cy="1557577"/>
            <a:chOff x="0" y="0"/>
            <a:chExt cx="3619627" cy="31346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599091" y="6987380"/>
            <a:ext cx="3378391" cy="2925703"/>
            <a:chOff x="0" y="0"/>
            <a:chExt cx="3619627" cy="31346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8986898" y="1033462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8986898" y="9263062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0170685" y="1033462"/>
            <a:ext cx="6486861" cy="8229600"/>
          </a:xfrm>
          <a:custGeom>
            <a:avLst/>
            <a:gdLst/>
            <a:ahLst/>
            <a:cxnLst/>
            <a:rect l="l" t="t" r="r" b="b"/>
            <a:pathLst>
              <a:path w="6486861" h="8229600">
                <a:moveTo>
                  <a:pt x="0" y="0"/>
                </a:moveTo>
                <a:lnTo>
                  <a:pt x="6486862" y="0"/>
                </a:lnTo>
                <a:lnTo>
                  <a:pt x="64868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6722" y="2296095"/>
            <a:ext cx="9373078" cy="170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600" spc="-5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System Flowchart </a:t>
            </a:r>
          </a:p>
          <a:p>
            <a:pPr algn="l">
              <a:lnSpc>
                <a:spcPts val="6780"/>
              </a:lnSpc>
              <a:spcBef>
                <a:spcPct val="0"/>
              </a:spcBef>
            </a:pPr>
            <a:endParaRPr lang="en-US" sz="5650" spc="-56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8999" y="854794"/>
            <a:ext cx="6358601" cy="170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600" spc="-5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Features of SPC</a:t>
            </a:r>
          </a:p>
          <a:p>
            <a:pPr algn="l">
              <a:lnSpc>
                <a:spcPts val="6780"/>
              </a:lnSpc>
              <a:spcBef>
                <a:spcPct val="0"/>
              </a:spcBef>
            </a:pPr>
            <a:endParaRPr lang="en-US" sz="5650" spc="-56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287353" y="2114944"/>
            <a:ext cx="4985461" cy="4317433"/>
            <a:chOff x="0" y="0"/>
            <a:chExt cx="3619627" cy="31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403846" y="6881379"/>
            <a:ext cx="3480308" cy="301396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750628" y="7110737"/>
            <a:ext cx="3378391" cy="292570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986898" y="904875"/>
            <a:ext cx="8272402" cy="1142012"/>
            <a:chOff x="0" y="0"/>
            <a:chExt cx="11029869" cy="152268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1. Automated Cleaning Mechanism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86898" y="4992166"/>
            <a:ext cx="8272402" cy="1142012"/>
            <a:chOff x="0" y="0"/>
            <a:chExt cx="11029869" cy="152268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3. Waterless Cleaning Solution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8986898" y="2165950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8986898" y="6382778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8986898" y="8603422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8986898" y="2237439"/>
            <a:ext cx="827240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grpSp>
        <p:nvGrpSpPr>
          <p:cNvPr id="21" name="Group 21"/>
          <p:cNvGrpSpPr/>
          <p:nvPr/>
        </p:nvGrpSpPr>
        <p:grpSpPr>
          <a:xfrm>
            <a:off x="8986898" y="3010433"/>
            <a:ext cx="8272402" cy="1142012"/>
            <a:chOff x="0" y="0"/>
            <a:chExt cx="11029869" cy="15226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2. Line-Following Technology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37092" y="7349565"/>
            <a:ext cx="8272402" cy="1142012"/>
            <a:chOff x="0" y="0"/>
            <a:chExt cx="11029869" cy="152268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4. Efficient Power Management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7361" y="3165048"/>
            <a:ext cx="8449536" cy="6093249"/>
            <a:chOff x="0" y="0"/>
            <a:chExt cx="4282440" cy="28938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82440" cy="2893858"/>
            </a:xfrm>
            <a:custGeom>
              <a:avLst/>
              <a:gdLst/>
              <a:ahLst/>
              <a:cxnLst/>
              <a:rect l="l" t="t" r="r" b="b"/>
              <a:pathLst>
                <a:path w="4282440" h="2893858">
                  <a:moveTo>
                    <a:pt x="3211830" y="0"/>
                  </a:moveTo>
                  <a:lnTo>
                    <a:pt x="1070610" y="0"/>
                  </a:lnTo>
                  <a:lnTo>
                    <a:pt x="0" y="1446929"/>
                  </a:lnTo>
                  <a:lnTo>
                    <a:pt x="1070610" y="2893858"/>
                  </a:lnTo>
                  <a:lnTo>
                    <a:pt x="3211830" y="2893858"/>
                  </a:lnTo>
                  <a:lnTo>
                    <a:pt x="4282440" y="1446929"/>
                  </a:lnTo>
                  <a:close/>
                </a:path>
              </a:pathLst>
            </a:custGeom>
            <a:blipFill>
              <a:blip r:embed="rId2"/>
              <a:stretch>
                <a:fillRect l="-12281" r="-12281"/>
              </a:stretch>
            </a:blipFill>
          </p:spPr>
        </p:sp>
      </p:grpSp>
      <p:sp>
        <p:nvSpPr>
          <p:cNvPr id="29" name="AutoShape 29"/>
          <p:cNvSpPr/>
          <p:nvPr/>
        </p:nvSpPr>
        <p:spPr>
          <a:xfrm>
            <a:off x="8986898" y="4283897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207126" y="2640274"/>
            <a:ext cx="4985461" cy="4317433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5192587" y="2549209"/>
            <a:ext cx="3480308" cy="3013963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33743" y="7132868"/>
            <a:ext cx="3378391" cy="2925703"/>
            <a:chOff x="0" y="0"/>
            <a:chExt cx="3619627" cy="31346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8986898" y="2591451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8986898" y="6938338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8986898" y="9097054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8986898" y="4789146"/>
            <a:ext cx="82724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38200" y="3710971"/>
            <a:ext cx="7924799" cy="6309325"/>
            <a:chOff x="0" y="0"/>
            <a:chExt cx="13884457" cy="138844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84455" cy="13884456"/>
            </a:xfrm>
            <a:custGeom>
              <a:avLst/>
              <a:gdLst/>
              <a:ahLst/>
              <a:cxnLst/>
              <a:rect l="l" t="t" r="r" b="b"/>
              <a:pathLst>
                <a:path w="13884455" h="13884456">
                  <a:moveTo>
                    <a:pt x="2128347" y="13859787"/>
                  </a:moveTo>
                  <a:cubicBezTo>
                    <a:pt x="2144144" y="13875583"/>
                    <a:pt x="2165567" y="13884456"/>
                    <a:pt x="2187905" y="13884456"/>
                  </a:cubicBezTo>
                  <a:lnTo>
                    <a:pt x="11696550" y="13884456"/>
                  </a:lnTo>
                  <a:cubicBezTo>
                    <a:pt x="11718889" y="13884456"/>
                    <a:pt x="11740314" y="13875583"/>
                    <a:pt x="11756108" y="13859787"/>
                  </a:cubicBezTo>
                  <a:lnTo>
                    <a:pt x="13859785" y="11756109"/>
                  </a:lnTo>
                  <a:cubicBezTo>
                    <a:pt x="13875581" y="11740313"/>
                    <a:pt x="13884455" y="11718889"/>
                    <a:pt x="13884455" y="11696551"/>
                  </a:cubicBezTo>
                  <a:lnTo>
                    <a:pt x="13884455" y="2187905"/>
                  </a:lnTo>
                  <a:cubicBezTo>
                    <a:pt x="13884455" y="2165566"/>
                    <a:pt x="13875581" y="2144142"/>
                    <a:pt x="13859785" y="2128347"/>
                  </a:cubicBezTo>
                  <a:lnTo>
                    <a:pt x="11756110" y="24670"/>
                  </a:lnTo>
                  <a:cubicBezTo>
                    <a:pt x="11740313" y="8873"/>
                    <a:pt x="11718891" y="0"/>
                    <a:pt x="11696551" y="0"/>
                  </a:cubicBezTo>
                  <a:lnTo>
                    <a:pt x="2187906" y="0"/>
                  </a:lnTo>
                  <a:cubicBezTo>
                    <a:pt x="2165567" y="0"/>
                    <a:pt x="2144144" y="8873"/>
                    <a:pt x="2128348" y="24670"/>
                  </a:cubicBezTo>
                  <a:lnTo>
                    <a:pt x="24670" y="2128347"/>
                  </a:lnTo>
                  <a:cubicBezTo>
                    <a:pt x="8873" y="2144142"/>
                    <a:pt x="0" y="2165566"/>
                    <a:pt x="0" y="2187905"/>
                  </a:cubicBezTo>
                  <a:lnTo>
                    <a:pt x="0" y="11696550"/>
                  </a:lnTo>
                  <a:cubicBezTo>
                    <a:pt x="0" y="11718889"/>
                    <a:pt x="8873" y="11740314"/>
                    <a:pt x="24670" y="11756108"/>
                  </a:cubicBezTo>
                  <a:lnTo>
                    <a:pt x="2128347" y="13859787"/>
                  </a:lnTo>
                  <a:close/>
                </a:path>
              </a:pathLst>
            </a:custGeom>
            <a:solidFill>
              <a:srgbClr val="00A181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84228" y="84228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11612323" y="0"/>
                  </a:moveTo>
                  <a:lnTo>
                    <a:pt x="2103678" y="0"/>
                  </a:lnTo>
                  <a:lnTo>
                    <a:pt x="0" y="2103677"/>
                  </a:lnTo>
                  <a:lnTo>
                    <a:pt x="0" y="11612322"/>
                  </a:lnTo>
                  <a:lnTo>
                    <a:pt x="2103678" y="13715999"/>
                  </a:lnTo>
                  <a:lnTo>
                    <a:pt x="11612323" y="13715999"/>
                  </a:lnTo>
                  <a:lnTo>
                    <a:pt x="13715999" y="11612322"/>
                  </a:lnTo>
                  <a:lnTo>
                    <a:pt x="13715999" y="2103677"/>
                  </a:lnTo>
                  <a:close/>
                </a:path>
              </a:pathLst>
            </a:custGeom>
            <a:blipFill>
              <a:blip r:embed="rId2"/>
              <a:stretch>
                <a:fillRect l="-28740" r="-2874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1236882"/>
            <a:ext cx="6896100" cy="170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600" spc="-5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Features of SPC</a:t>
            </a:r>
          </a:p>
          <a:p>
            <a:pPr algn="l">
              <a:lnSpc>
                <a:spcPts val="6780"/>
              </a:lnSpc>
              <a:spcBef>
                <a:spcPct val="0"/>
              </a:spcBef>
            </a:pPr>
            <a:endParaRPr lang="en-US" sz="5650" spc="-56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144000" y="1293863"/>
            <a:ext cx="8272402" cy="1142012"/>
            <a:chOff x="0" y="0"/>
            <a:chExt cx="11029869" cy="152268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5. User-Friendly Interface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63075" y="5590183"/>
            <a:ext cx="8272402" cy="1142012"/>
            <a:chOff x="0" y="0"/>
            <a:chExt cx="11029869" cy="15226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7. Charging System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986898" y="2237439"/>
            <a:ext cx="827240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grpSp>
        <p:nvGrpSpPr>
          <p:cNvPr id="25" name="Group 25"/>
          <p:cNvGrpSpPr/>
          <p:nvPr/>
        </p:nvGrpSpPr>
        <p:grpSpPr>
          <a:xfrm>
            <a:off x="9363075" y="3381837"/>
            <a:ext cx="8272402" cy="1142012"/>
            <a:chOff x="0" y="0"/>
            <a:chExt cx="11029869" cy="1522683"/>
          </a:xfrm>
        </p:grpSpPr>
        <p:sp>
          <p:nvSpPr>
            <p:cNvPr id="26" name="TextBox 26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6. Customizable Design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63075" y="7743200"/>
            <a:ext cx="8272402" cy="1142012"/>
            <a:chOff x="0" y="0"/>
            <a:chExt cx="11029869" cy="1522683"/>
          </a:xfrm>
        </p:grpSpPr>
        <p:sp>
          <p:nvSpPr>
            <p:cNvPr id="29" name="TextBox 29"/>
            <p:cNvSpPr txBox="1"/>
            <p:nvPr/>
          </p:nvSpPr>
          <p:spPr>
            <a:xfrm>
              <a:off x="0" y="0"/>
              <a:ext cx="11029869" cy="72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8. Cost-Effective Solution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72892"/>
              <a:ext cx="1102986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99" y="1255240"/>
            <a:ext cx="5140747" cy="170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600" spc="-5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Gantt Chart</a:t>
            </a:r>
          </a:p>
          <a:p>
            <a:pPr algn="l">
              <a:lnSpc>
                <a:spcPts val="6780"/>
              </a:lnSpc>
              <a:spcBef>
                <a:spcPct val="0"/>
              </a:spcBef>
            </a:pPr>
            <a:endParaRPr lang="en-US" sz="5650" spc="-56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78578" y="2490824"/>
            <a:ext cx="4985461" cy="4317433"/>
            <a:chOff x="0" y="0"/>
            <a:chExt cx="3619627" cy="31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4429292" y="5175141"/>
            <a:ext cx="3480308" cy="301396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5270156" y="3346530"/>
            <a:ext cx="1798578" cy="15575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776424" y="7113323"/>
            <a:ext cx="3378391" cy="292570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986898" y="3510613"/>
            <a:ext cx="8272402" cy="1138928"/>
            <a:chOff x="0" y="0"/>
            <a:chExt cx="11029869" cy="151857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11029869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endParaRPr lang="en-US" sz="36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72892"/>
              <a:ext cx="11029869" cy="445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endParaRPr lang="en-US" sz="20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86898" y="5919896"/>
            <a:ext cx="8272402" cy="1138928"/>
            <a:chOff x="0" y="0"/>
            <a:chExt cx="11029869" cy="1518571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11029869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endParaRPr lang="en-US" sz="36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072892"/>
              <a:ext cx="11029869" cy="445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endParaRPr lang="en-US" sz="2000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</p:txBody>
        </p: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0D0E3A6-00F1-56A5-999C-2ED0E99C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3557"/>
              </p:ext>
            </p:extLst>
          </p:nvPr>
        </p:nvGraphicFramePr>
        <p:xfrm>
          <a:off x="8986898" y="266700"/>
          <a:ext cx="8996302" cy="9753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7267">
                  <a:extLst>
                    <a:ext uri="{9D8B030D-6E8A-4147-A177-3AD203B41FA5}">
                      <a16:colId xmlns:a16="http://schemas.microsoft.com/office/drawing/2014/main" val="510293655"/>
                    </a:ext>
                  </a:extLst>
                </a:gridCol>
                <a:gridCol w="5122035">
                  <a:extLst>
                    <a:ext uri="{9D8B030D-6E8A-4147-A177-3AD203B41FA5}">
                      <a16:colId xmlns:a16="http://schemas.microsoft.com/office/drawing/2014/main" val="268769883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0325686"/>
                    </a:ext>
                  </a:extLst>
                </a:gridCol>
              </a:tblGrid>
              <a:tr h="127702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</a:t>
                      </a: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(Days) &amp; work (%) </a:t>
                      </a: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extLst>
                  <a:ext uri="{0D108BD9-81ED-4DB2-BD59-A6C34878D82A}">
                    <a16:rowId xmlns:a16="http://schemas.microsoft.com/office/drawing/2014/main" val="60155164"/>
                  </a:ext>
                </a:extLst>
              </a:tr>
              <a:tr h="307608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 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342900" marR="0" lvl="0" indent="-342900" algn="l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+mj-lt"/>
                        <a:buAutoNum type="arabicPeriod"/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&amp; Component Selection: </a:t>
                      </a:r>
                    </a:p>
                    <a:p>
                      <a:pPr marL="0" marR="0" indent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Arduino, sensors, motors, cleaning mechanism, etc. </a:t>
                      </a:r>
                    </a:p>
                    <a:p>
                      <a:pPr marL="0" marR="0" lvl="0" indent="0" algn="l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+mj-lt"/>
                        <a:buNone/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 Purchase Components &amp; Basic Circuit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 </a:t>
                      </a:r>
                    </a:p>
                    <a:p>
                      <a:pPr marL="0" marR="0" lvl="0" indent="0" algn="l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+mj-lt"/>
                        <a:buNone/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  Mechanical Assembly: Attach Motors,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Wheels, Sensor 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=&gt; 7 Days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=&gt; 25% completed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extLst>
                  <a:ext uri="{0D108BD9-81ED-4DB2-BD59-A6C34878D82A}">
                    <a16:rowId xmlns:a16="http://schemas.microsoft.com/office/drawing/2014/main" val="2596719326"/>
                  </a:ext>
                </a:extLst>
              </a:tr>
              <a:tr h="2700246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endParaRPr lang="en-US" sz="13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342900" marR="0" lvl="0" indent="-342900" algn="l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+mj-lt"/>
                        <a:buAutoNum type="arabicPeriod"/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Line-Following Sensors with Motor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</a:t>
                      </a:r>
                    </a:p>
                    <a:p>
                      <a:pPr marL="0" marR="0" lvl="0" indent="0" algn="l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+mj-lt"/>
                        <a:buNone/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  Program Line Following Logic &amp; Test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  System testing and debugging </a:t>
                      </a:r>
                      <a:endParaRPr lang="en-US" sz="2000" u="none" strike="noStrike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342900" marR="351790" indent="-34290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Þ"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Days </a:t>
                      </a:r>
                    </a:p>
                    <a:p>
                      <a:pPr marL="0" marR="35179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35179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=&gt; 60% completed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extLst>
                  <a:ext uri="{0D108BD9-81ED-4DB2-BD59-A6C34878D82A}">
                    <a16:rowId xmlns:a16="http://schemas.microsoft.com/office/drawing/2014/main" val="3800142841"/>
                  </a:ext>
                </a:extLst>
              </a:tr>
              <a:tr h="2700246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 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Implement Cleaning Mechanism </a:t>
                      </a:r>
                    </a:p>
                    <a:p>
                      <a:pPr marL="6350" marR="0" indent="-63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System Integration: Combine Line Following 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Cleaning Mechanism </a:t>
                      </a:r>
                    </a:p>
                    <a:p>
                      <a:pPr marL="6350" marR="0" indent="-63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Full System Testing &amp; Debugging </a:t>
                      </a:r>
                    </a:p>
                    <a:p>
                      <a:pPr marL="6350" marR="0" indent="-63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Final Adjustments &amp; Documentation </a:t>
                      </a:r>
                      <a:endParaRPr lang="en-US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358775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=&gt;7 Days </a:t>
                      </a:r>
                    </a:p>
                    <a:p>
                      <a:pPr marL="0" marR="358775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358775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=&gt; 100% completed 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52" marR="69801" marT="9711" marB="0"/>
                </a:tc>
                <a:extLst>
                  <a:ext uri="{0D108BD9-81ED-4DB2-BD59-A6C34878D82A}">
                    <a16:rowId xmlns:a16="http://schemas.microsoft.com/office/drawing/2014/main" val="360040597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B9BAAC3F-CB49-3F8E-03A9-F78D291E6787}"/>
              </a:ext>
            </a:extLst>
          </p:cNvPr>
          <p:cNvGrpSpPr/>
          <p:nvPr/>
        </p:nvGrpSpPr>
        <p:grpSpPr>
          <a:xfrm rot="-10800000">
            <a:off x="304800" y="6483121"/>
            <a:ext cx="3480308" cy="3013963"/>
            <a:chOff x="0" y="0"/>
            <a:chExt cx="3619627" cy="3134614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1FE1B15F-F0FF-8D67-EC28-EAA1844BC369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7160DE32-DC2B-1A53-C198-E82D76DC5FA1}"/>
              </a:ext>
            </a:extLst>
          </p:cNvPr>
          <p:cNvGrpSpPr/>
          <p:nvPr/>
        </p:nvGrpSpPr>
        <p:grpSpPr>
          <a:xfrm rot="-10800000">
            <a:off x="3506251" y="5070211"/>
            <a:ext cx="3378391" cy="2925703"/>
            <a:chOff x="0" y="0"/>
            <a:chExt cx="3619627" cy="3134614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41D7A3DA-D2A6-F71F-9A66-B828D50F7CD7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6" name="Group 9">
            <a:extLst>
              <a:ext uri="{FF2B5EF4-FFF2-40B4-BE49-F238E27FC236}">
                <a16:creationId xmlns:a16="http://schemas.microsoft.com/office/drawing/2014/main" id="{B4FF106E-649F-8339-8967-13480D4DF1C4}"/>
              </a:ext>
            </a:extLst>
          </p:cNvPr>
          <p:cNvGrpSpPr/>
          <p:nvPr/>
        </p:nvGrpSpPr>
        <p:grpSpPr>
          <a:xfrm rot="-10800000">
            <a:off x="3631468" y="8276628"/>
            <a:ext cx="1292295" cy="1119134"/>
            <a:chOff x="0" y="0"/>
            <a:chExt cx="3619627" cy="3134614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889694EE-7E4F-49DE-CC42-5DE95962F97D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77092D-D30F-26F9-94FD-F915882D7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01870"/>
              </p:ext>
            </p:extLst>
          </p:nvPr>
        </p:nvGraphicFramePr>
        <p:xfrm>
          <a:off x="7543800" y="0"/>
          <a:ext cx="10744200" cy="10287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9569">
                  <a:extLst>
                    <a:ext uri="{9D8B030D-6E8A-4147-A177-3AD203B41FA5}">
                      <a16:colId xmlns:a16="http://schemas.microsoft.com/office/drawing/2014/main" val="129994161"/>
                    </a:ext>
                  </a:extLst>
                </a:gridCol>
                <a:gridCol w="2203998">
                  <a:extLst>
                    <a:ext uri="{9D8B030D-6E8A-4147-A177-3AD203B41FA5}">
                      <a16:colId xmlns:a16="http://schemas.microsoft.com/office/drawing/2014/main" val="638680144"/>
                    </a:ext>
                  </a:extLst>
                </a:gridCol>
                <a:gridCol w="3580633">
                  <a:extLst>
                    <a:ext uri="{9D8B030D-6E8A-4147-A177-3AD203B41FA5}">
                      <a16:colId xmlns:a16="http://schemas.microsoft.com/office/drawing/2014/main" val="1039847618"/>
                    </a:ext>
                  </a:extLst>
                </a:gridCol>
              </a:tblGrid>
              <a:tr h="574936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Component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Quantity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Cost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extLst>
                  <a:ext uri="{0D108BD9-81ED-4DB2-BD59-A6C34878D82A}">
                    <a16:rowId xmlns:a16="http://schemas.microsoft.com/office/drawing/2014/main" val="382469500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1. Arduino Uno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530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583237619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2. Line Follower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100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4158088542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3. IR Sensors (Line Following)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4205216570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4. DC Motors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275+275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215468142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5. Motor Driver (L298N)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409141605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6. Cleaning pipe &amp; Foam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150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213055845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7. Wheels/Chassis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set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300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458288908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8. Battery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250+250+150+150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798820923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9. Battery Holder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80+30+30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1227333314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10. Water Pump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312616451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11. DC Switch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20+10+10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2623026940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12. USB Cable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135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3095671294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13. Cleaning Spray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120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1790731319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14. Saline Pipe &amp; T-Spliter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3540455192"/>
                  </a:ext>
                </a:extLst>
              </a:tr>
              <a:tr h="573204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15. Miscellaneous (wires, connectors, etc.)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extLst>
                  <a:ext uri="{0D108BD9-81ED-4DB2-BD59-A6C34878D82A}">
                    <a16:rowId xmlns:a16="http://schemas.microsoft.com/office/drawing/2014/main" val="1400700067"/>
                  </a:ext>
                </a:extLst>
              </a:tr>
              <a:tr h="55486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16. Other Cost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500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/>
                </a:tc>
                <a:extLst>
                  <a:ext uri="{0D108BD9-81ED-4DB2-BD59-A6C34878D82A}">
                    <a16:rowId xmlns:a16="http://schemas.microsoft.com/office/drawing/2014/main" val="1392967118"/>
                  </a:ext>
                </a:extLst>
              </a:tr>
              <a:tr h="81593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Total Cost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 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4275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741" marR="71067" marT="9888" marB="0" anchor="ctr"/>
                </a:tc>
                <a:extLst>
                  <a:ext uri="{0D108BD9-81ED-4DB2-BD59-A6C34878D82A}">
                    <a16:rowId xmlns:a16="http://schemas.microsoft.com/office/drawing/2014/main" val="22815423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F35CE0-EC3E-2CB9-8BEC-CDE88413B04F}"/>
              </a:ext>
            </a:extLst>
          </p:cNvPr>
          <p:cNvSpPr txBox="1"/>
          <p:nvPr/>
        </p:nvSpPr>
        <p:spPr>
          <a:xfrm>
            <a:off x="161483" y="1513875"/>
            <a:ext cx="91594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Etna Sans Serif" panose="020B0604020202020204" charset="0"/>
                <a:ea typeface="Times New Roman" panose="02020603050405020304" pitchFamily="18" charset="0"/>
              </a:rPr>
              <a:t>Budget Estimation</a:t>
            </a:r>
            <a:endParaRPr lang="en-US" sz="6600" dirty="0">
              <a:latin typeface="Etna Sans Serif" panose="020B0604020202020204" charset="0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ECAA8712-BDD7-9092-1A5B-85CA2DCBFE63}"/>
              </a:ext>
            </a:extLst>
          </p:cNvPr>
          <p:cNvGrpSpPr/>
          <p:nvPr/>
        </p:nvGrpSpPr>
        <p:grpSpPr>
          <a:xfrm rot="-10800000">
            <a:off x="161483" y="3569042"/>
            <a:ext cx="3766941" cy="2633366"/>
            <a:chOff x="0" y="0"/>
            <a:chExt cx="3619627" cy="3134614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43D587E8-64D7-040A-C01E-C1DC280EF519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</p:spTree>
    <p:extLst>
      <p:ext uri="{BB962C8B-B14F-4D97-AF65-F5344CB8AC3E}">
        <p14:creationId xmlns:p14="http://schemas.microsoft.com/office/powerpoint/2010/main" val="1677552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34801" y="3238500"/>
            <a:ext cx="3733800" cy="2819400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929703" y="5839993"/>
            <a:ext cx="4224698" cy="3192515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71525" y="468881"/>
            <a:ext cx="16744950" cy="8563627"/>
            <a:chOff x="0" y="-9525"/>
            <a:chExt cx="22326600" cy="11418168"/>
          </a:xfrm>
        </p:grpSpPr>
        <p:sp>
          <p:nvSpPr>
            <p:cNvPr id="7" name="TextBox 7"/>
            <p:cNvSpPr txBox="1"/>
            <p:nvPr/>
          </p:nvSpPr>
          <p:spPr>
            <a:xfrm>
              <a:off x="0" y="2756703"/>
              <a:ext cx="22326600" cy="8651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38"/>
                </a:lnSpc>
                <a:spcBef>
                  <a:spcPct val="0"/>
                </a:spcBef>
              </a:pPr>
              <a:r>
                <a:rPr lang="en-US" sz="3865" dirty="0">
                  <a:solidFill>
                    <a:srgbClr val="F4F4F4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In this project, we successfully developed a Line Follower Robot for Automated Solar Panel Cleaning. The robot utilizes an Arduino-based control system, IR sensors, and a cleaning mechanism to autonomously navigate solar panels, ensuring efficient dust and debris removal. The implementation of the cleaning system achieved an efficiency of 90% to 97%, making it a viable solution for maintaining solar panel performance.</a:t>
              </a:r>
            </a:p>
            <a:p>
              <a:pPr algn="l">
                <a:lnSpc>
                  <a:spcPts val="4638"/>
                </a:lnSpc>
                <a:spcBef>
                  <a:spcPct val="0"/>
                </a:spcBef>
              </a:pPr>
              <a:endParaRPr lang="en-US" sz="3865" dirty="0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  <a:p>
              <a:pPr algn="l">
                <a:lnSpc>
                  <a:spcPts val="4638"/>
                </a:lnSpc>
                <a:spcBef>
                  <a:spcPct val="0"/>
                </a:spcBef>
              </a:pPr>
              <a:endParaRPr lang="en-US" sz="3865" dirty="0">
                <a:solidFill>
                  <a:srgbClr val="F4F4F4"/>
                </a:solidFill>
                <a:latin typeface="Etna Sans Serif"/>
                <a:ea typeface="Etna Sans Serif"/>
                <a:cs typeface="Etna Sans Serif"/>
                <a:sym typeface="Etna Sans Serif"/>
              </a:endParaRPr>
            </a:p>
            <a:p>
              <a:pPr algn="l">
                <a:lnSpc>
                  <a:spcPts val="4638"/>
                </a:lnSpc>
                <a:spcBef>
                  <a:spcPct val="0"/>
                </a:spcBef>
              </a:pPr>
              <a:r>
                <a:rPr lang="en-US" sz="3865" dirty="0">
                  <a:solidFill>
                    <a:srgbClr val="F4F4F4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This project not only addresses the operational challenges of solar panel maintenance but also opens doors for further innovation and improvements in industrial automation.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326600" cy="2273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400"/>
                </a:lnSpc>
              </a:pPr>
              <a:r>
                <a:rPr lang="en-US" sz="11166">
                  <a:solidFill>
                    <a:srgbClr val="A4E473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Conclusion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1407772" y="8403659"/>
            <a:ext cx="1292295" cy="1119134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BA5715B4-4610-7EE7-356B-74341310D0C6}"/>
              </a:ext>
            </a:extLst>
          </p:cNvPr>
          <p:cNvGrpSpPr/>
          <p:nvPr/>
        </p:nvGrpSpPr>
        <p:grpSpPr>
          <a:xfrm>
            <a:off x="14343858" y="347287"/>
            <a:ext cx="2249486" cy="1948066"/>
            <a:chOff x="0" y="0"/>
            <a:chExt cx="3619627" cy="3134614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BB0B60D-9BF9-3FDA-973E-9E6E9841BFD1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42942" y="1653956"/>
            <a:ext cx="10265346" cy="3483732"/>
            <a:chOff x="-692611" y="-656264"/>
            <a:chExt cx="13687128" cy="4644976"/>
          </a:xfrm>
        </p:grpSpPr>
        <p:sp>
          <p:nvSpPr>
            <p:cNvPr id="3" name="TextBox 3"/>
            <p:cNvSpPr txBox="1"/>
            <p:nvPr/>
          </p:nvSpPr>
          <p:spPr>
            <a:xfrm>
              <a:off x="0" y="3113778"/>
              <a:ext cx="12994517" cy="874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21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692611" y="-656264"/>
              <a:ext cx="12994517" cy="258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083"/>
                </a:lnSpc>
              </a:pPr>
              <a:r>
                <a:rPr lang="en-US" sz="14000" dirty="0">
                  <a:solidFill>
                    <a:srgbClr val="C00000"/>
                  </a:solidFill>
                  <a:latin typeface="Algerian" panose="04020705040A02060702" pitchFamily="82" charset="0"/>
                  <a:ea typeface="Etna Sans Serif"/>
                  <a:cs typeface="Etna Sans Serif"/>
                  <a:sym typeface="Etna Sans Serif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28750" y="6350205"/>
            <a:ext cx="4395947" cy="3806910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3411200" y="2033340"/>
            <a:ext cx="4095982" cy="3547140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913761" y="4082582"/>
            <a:ext cx="6383425" cy="5528076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6E10FC95-578A-3B5E-B26F-7CC01D842FDF}"/>
              </a:ext>
            </a:extLst>
          </p:cNvPr>
          <p:cNvGrpSpPr/>
          <p:nvPr/>
        </p:nvGrpSpPr>
        <p:grpSpPr>
          <a:xfrm rot="-10800000">
            <a:off x="304800" y="8420100"/>
            <a:ext cx="1798578" cy="1557577"/>
            <a:chOff x="0" y="0"/>
            <a:chExt cx="3619627" cy="3134614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BC075C90-C753-784B-D92D-445FD1104FD7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0CFE04E-26FF-8787-53BC-3B9ADF7FA7AB}"/>
              </a:ext>
            </a:extLst>
          </p:cNvPr>
          <p:cNvSpPr txBox="1"/>
          <p:nvPr/>
        </p:nvSpPr>
        <p:spPr>
          <a:xfrm>
            <a:off x="2186184" y="8498142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AL-Fatah</a:t>
            </a: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5B8DDE1D-1DC2-37DD-B630-7F09E0163DF2}"/>
              </a:ext>
            </a:extLst>
          </p:cNvPr>
          <p:cNvGrpSpPr/>
          <p:nvPr/>
        </p:nvGrpSpPr>
        <p:grpSpPr>
          <a:xfrm rot="-10800000">
            <a:off x="12966460" y="1647909"/>
            <a:ext cx="4985461" cy="4317433"/>
            <a:chOff x="0" y="0"/>
            <a:chExt cx="3619627" cy="3134614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F5E6BD3B-8E87-4A81-4F39-42ABE48BC0D0}"/>
                </a:ext>
              </a:extLst>
            </p:cNvPr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comb/>
      </p:transition>
    </mc:Choice>
    <mc:Fallback xmlns="">
      <p:transition spd="slow">
        <p:comb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643</Words>
  <Application>Microsoft Office PowerPoint</Application>
  <PresentationFormat>Custom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Symbol</vt:lpstr>
      <vt:lpstr>Arial</vt:lpstr>
      <vt:lpstr>Calibri</vt:lpstr>
      <vt:lpstr>Times New Roman</vt:lpstr>
      <vt:lpstr>Algerian</vt:lpstr>
      <vt:lpstr>Etna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Follower Robotic Car</dc:title>
  <cp:lastModifiedBy>Md. Ammar Hossain</cp:lastModifiedBy>
  <cp:revision>7</cp:revision>
  <dcterms:created xsi:type="dcterms:W3CDTF">2006-08-16T00:00:00Z</dcterms:created>
  <dcterms:modified xsi:type="dcterms:W3CDTF">2024-10-09T03:52:31Z</dcterms:modified>
  <dc:identifier>DAGQYakDbIQ</dc:identifier>
</cp:coreProperties>
</file>